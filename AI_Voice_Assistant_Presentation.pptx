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F2FE"/>
                </a:solidFill>
                <a:latin typeface="Arial"/>
              </a:defRPr>
            </a:pPr>
            <a:r>
              <a:t>AI-BASED VOICE ASSISTANT (ARIA)</a:t>
            </a:r>
          </a:p>
          <a:p>
            <a:pPr algn="ctr">
              <a:defRPr sz="2000">
                <a:solidFill>
                  <a:srgbClr val="F0F6FC"/>
                </a:solidFill>
                <a:latin typeface="Arial"/>
              </a:defRPr>
            </a:pPr>
            <a:r>
              <a:t>Speech Recognition, Text-to-Speech Synthesis &amp; Web Control Center</a:t>
            </a:r>
          </a:p>
          <a:p>
            <a:br/>
            <a:pPr algn="ctr">
              <a:defRPr sz="1400">
                <a:solidFill>
                  <a:srgbClr val="8B949E"/>
                </a:solidFill>
                <a:latin typeface="Arial"/>
              </a:defRPr>
            </a:pPr>
            <a:r>
              <a:t>Major Academic Project Presentation  |  Python 3.13 • SpeechRecognition • pyttsx3 • 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F2FE"/>
                </a:solidFill>
                <a:latin typeface="Arial"/>
              </a:defRPr>
            </a:pPr>
            <a:r>
              <a:t>Problem Statement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7F00FF"/>
                </a:solidFill>
              </a:defRPr>
            </a:pPr>
            <a:r>
              <a:t>Problem Statement</a:t>
            </a:r>
          </a:p>
          <a:p>
            <a:pPr>
              <a:spcAft>
                <a:spcPts val="1600"/>
              </a:spcAft>
              <a:defRPr sz="1500">
                <a:solidFill>
                  <a:srgbClr val="F0F6FC"/>
                </a:solidFill>
              </a:defRPr>
            </a:pPr>
            <a:r>
              <a:t>Voice assistants enable users to perform tasks via spoken voice commands, boosting productivity and accessibility. This project builds a complete smart voice assistant simulating real-world AI capabilities.</a:t>
            </a:r>
          </a:p>
          <a:p>
            <a:pPr>
              <a:defRPr sz="2000" b="1">
                <a:solidFill>
                  <a:srgbClr val="7F00FF"/>
                </a:solidFill>
              </a:defRPr>
            </a:pPr>
            <a:r>
              <a:t>Key Objectives</a:t>
            </a:r>
          </a:p>
          <a:p>
            <a:pPr>
              <a:spcAft>
                <a:spcPts val="1600"/>
              </a:spcAft>
              <a:defRPr sz="1500">
                <a:solidFill>
                  <a:srgbClr val="F0F6FC"/>
                </a:solidFill>
              </a:defRPr>
            </a:pPr>
            <a:r>
              <a:t>1. Capture real-time microphone audio and convert speech to text.</a:t>
            </a:r>
            <a:br/>
            <a:r>
              <a:t>2. Intelligently match and process voice command intent.</a:t>
            </a:r>
            <a:br/>
            <a:r>
              <a:t>3. Execute automated system actions (open apps, calculate math, check status).</a:t>
            </a:r>
            <a:br/>
            <a:r>
              <a:t>4. Deliver clear audible voice responses using offline TTS engine.</a:t>
            </a:r>
            <a:br/>
            <a:r>
              <a:t>5. Provide a high-aesthetic interactive web control center.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F2FE"/>
                </a:solidFill>
                <a:latin typeface="Arial"/>
              </a:defRPr>
            </a:pPr>
            <a:r>
              <a:t>System Architecture &amp;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Python 3.13: </a:t>
            </a:r>
            <a:r>
              <a:rPr sz="1500">
                <a:solidFill>
                  <a:srgbClr val="F0F6FC"/>
                </a:solidFill>
              </a:rPr>
              <a:t>Core programming language for assistant engine, intent routing, and backend services.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SpeechRecognition &amp; PyAudio: </a:t>
            </a:r>
            <a:r>
              <a:rPr sz="1500">
                <a:solidFill>
                  <a:srgbClr val="F0F6FC"/>
                </a:solidFill>
              </a:rPr>
              <a:t>Handles real-time microphone stream capture and Google Speech-to-Text transcription.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pyttsx3 Voice Engine: </a:t>
            </a:r>
            <a:r>
              <a:rPr sz="1500">
                <a:solidFill>
                  <a:srgbClr val="F0F6FC"/>
                </a:solidFill>
              </a:rPr>
              <a:t>Offline text-to-speech synthesis engine providing natural audio feedback.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Flask REST Framework: </a:t>
            </a:r>
            <a:r>
              <a:rPr sz="1500">
                <a:solidFill>
                  <a:srgbClr val="F0F6FC"/>
                </a:solidFill>
              </a:rPr>
              <a:t>Serves Web Control Center at http://localhost:5000 with REST API endpoints.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HTML5, CSS3, JavaScript: </a:t>
            </a:r>
            <a:r>
              <a:rPr sz="1500">
                <a:solidFill>
                  <a:srgbClr val="F0F6FC"/>
                </a:solidFill>
              </a:rPr>
              <a:t>Futuristic Glassmorphic Dark UI, Web Audio API sound synth, and interactive modals.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F2FE"/>
                </a:solidFill>
                <a:latin typeface="Arial"/>
              </a:defRPr>
            </a:pPr>
            <a:r>
              <a:t>Speech Recognition &amp; Response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600">
                <a:solidFill>
                  <a:srgbClr val="00F2FE"/>
                </a:solidFill>
              </a:rPr>
              <a:t>Step 1: Audio Input Capture -&gt; </a:t>
            </a:r>
            <a:r>
              <a:rPr sz="1400">
                <a:solidFill>
                  <a:srgbClr val="F0F6FC"/>
                </a:solidFill>
              </a:rPr>
              <a:t>Microphone stream captured via PyAudio (31 channels supported) or Browser Web Audio API.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0F2FE"/>
                </a:solidFill>
              </a:rPr>
              <a:t>Step 2: Speech-to-Text (STT) -&gt; </a:t>
            </a:r>
            <a:r>
              <a:rPr sz="1400">
                <a:solidFill>
                  <a:srgbClr val="F0F6FC"/>
                </a:solidFill>
              </a:rPr>
              <a:t>Audio processed by SpeechRecognition engine converting vocal waveform into text transcript.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0F2FE"/>
                </a:solidFill>
              </a:rPr>
              <a:t>Step 3: Intent Routing -&gt; </a:t>
            </a:r>
            <a:r>
              <a:rPr sz="1400">
                <a:solidFill>
                  <a:srgbClr val="F0F6FC"/>
                </a:solidFill>
              </a:rPr>
              <a:t>Pattern matching routes text to specific module (Time, Math, App Launcher, Web Search).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0F2FE"/>
                </a:solidFill>
              </a:rPr>
              <a:t>Step 4: Action Execution -&gt; </a:t>
            </a:r>
            <a:r>
              <a:rPr sz="1400">
                <a:solidFill>
                  <a:srgbClr val="F0F6FC"/>
                </a:solidFill>
              </a:rPr>
              <a:t>Launches local app, computes math, queries Wikipedia, or fetches Google Search Reports.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0F2FE"/>
                </a:solidFill>
              </a:rPr>
              <a:t>Step 5: Spoken Audio Response -&gt; </a:t>
            </a:r>
            <a:r>
              <a:rPr sz="1400">
                <a:solidFill>
                  <a:srgbClr val="F0F6FC"/>
                </a:solidFill>
              </a:rPr>
              <a:t>Response spoken out loud orally via pyttsx3 host speakers and Web Speech Synthesis.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F2FE"/>
                </a:solidFill>
                <a:latin typeface="Arial"/>
              </a:defRPr>
            </a:pPr>
            <a:r>
              <a:t>Core Functional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F0F6FC"/>
                </a:solidFill>
              </a:defRPr>
            </a:pPr>
            <a:r>
              <a:t>[TIME] Time &amp; Date Engine: Tells current time and date in formatted 12-hour AM/PM format.</a:t>
            </a:r>
          </a:p>
          <a:p>
            <a:pPr>
              <a:spcAft>
                <a:spcPts val="1200"/>
              </a:spcAft>
              <a:defRPr sz="1700">
                <a:solidFill>
                  <a:srgbClr val="F0F6FC"/>
                </a:solidFill>
              </a:defRPr>
            </a:pPr>
            <a:r>
              <a:t>[APPS] System App Launcher: Launches Notepad, Calculator, Command Prompt, MS Paint, and Explorer.</a:t>
            </a:r>
          </a:p>
          <a:p>
            <a:pPr>
              <a:spcAft>
                <a:spcPts val="1200"/>
              </a:spcAft>
              <a:defRPr sz="1700">
                <a:solidFill>
                  <a:srgbClr val="F0F6FC"/>
                </a:solidFill>
              </a:defRPr>
            </a:pPr>
            <a:r>
              <a:t>[MATH] Math Solver: Solves complex mathematical word problems and algebraic expressions.</a:t>
            </a:r>
          </a:p>
          <a:p>
            <a:pPr>
              <a:spcAft>
                <a:spcPts val="1200"/>
              </a:spcAft>
              <a:defRPr sz="1700">
                <a:solidFill>
                  <a:srgbClr val="F0F6FC"/>
                </a:solidFill>
              </a:defRPr>
            </a:pPr>
            <a:r>
              <a:t>[SEARCH] Search Reports: Extracts Wikipedia summaries and multi-topic Google Search Reports.</a:t>
            </a:r>
          </a:p>
          <a:p>
            <a:pPr>
              <a:spcAft>
                <a:spcPts val="1200"/>
              </a:spcAft>
              <a:defRPr sz="1700">
                <a:solidFill>
                  <a:srgbClr val="F0F6FC"/>
                </a:solidFill>
              </a:defRPr>
            </a:pPr>
            <a:r>
              <a:t>[STATS] System Stats: Live monitoring of host CPU load percentage and RAM utilization.</a:t>
            </a:r>
          </a:p>
          <a:p>
            <a:pPr>
              <a:spcAft>
                <a:spcPts val="1200"/>
              </a:spcAft>
              <a:defRPr sz="1700">
                <a:solidFill>
                  <a:srgbClr val="F0F6FC"/>
                </a:solidFill>
              </a:defRPr>
            </a:pPr>
            <a:r>
              <a:t>[JOKES] Entertainment: Generates humorous programming and general jokes via pyjokes.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F2FE"/>
                </a:solidFill>
                <a:latin typeface="Arial"/>
              </a:defRPr>
            </a:pPr>
            <a:r>
              <a:t>Ultra-Interactive Web Control Center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Glassmorphic Dark Mode: </a:t>
            </a:r>
            <a:r>
              <a:rPr sz="1500">
                <a:solidFill>
                  <a:srgbClr val="F0F6FC"/>
                </a:solidFill>
              </a:rPr>
              <a:t>Futuristic neon layout with self-contained SVG graphics and smooth animations.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Canvas Audio Visualizer: </a:t>
            </a:r>
            <a:r>
              <a:rPr sz="1500">
                <a:solidFill>
                  <a:srgbClr val="F0F6FC"/>
                </a:solidFill>
              </a:rPr>
              <a:t>Dynamic audio spectrum visualizer animating live voice waveforms.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Top Hero Result Banner: </a:t>
            </a:r>
            <a:r>
              <a:rPr sz="1500">
                <a:solidFill>
                  <a:srgbClr val="F0F6FC"/>
                </a:solidFill>
              </a:rPr>
              <a:t>Prominent display card rendering instant AI text answers and web links right below input.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Web Audio Synthesizer: </a:t>
            </a:r>
            <a:r>
              <a:rPr sz="1500">
                <a:solidFill>
                  <a:srgbClr val="F0F6FC"/>
                </a:solidFill>
              </a:rPr>
              <a:t>Generates acoustic feedback beeps and success chimes using Web Audio API oscillator tones.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0F2FE"/>
                </a:solidFill>
              </a:rPr>
              <a:t>- Real-time Gauges: </a:t>
            </a:r>
            <a:r>
              <a:rPr sz="1500">
                <a:solidFill>
                  <a:srgbClr val="F0F6FC"/>
                </a:solidFill>
              </a:rPr>
              <a:t>Dynamic animated progress gauges for host CPU load and RAM usage.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F2FE"/>
                </a:solidFill>
                <a:latin typeface="Arial"/>
              </a:defRPr>
            </a:pPr>
            <a:r>
              <a:t>Built-in Interactive Modals (Notepad &amp; Calculator)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7F00FF"/>
                </a:solidFill>
              </a:defRPr>
            </a:pPr>
            <a:r>
              <a:t>Interactive Glassmorphism Notepad Modal (#notepad-modal)</a:t>
            </a:r>
          </a:p>
          <a:p>
            <a:pPr>
              <a:spcAft>
                <a:spcPts val="1400"/>
              </a:spcAft>
              <a:defRPr sz="1400">
                <a:solidFill>
                  <a:srgbClr val="F0F6FC"/>
                </a:solidFill>
              </a:defRPr>
            </a:pPr>
            <a:r>
              <a:t>- Opens instantly on screen when user clicks or speaks 'Open Notepad'.</a:t>
            </a:r>
            <a:br/>
            <a:r>
              <a:t>- Real-time character &amp; word counters.</a:t>
            </a:r>
            <a:br/>
            <a:r>
              <a:t>- Includes Save File button (downloads notes directly as notes.txt).</a:t>
            </a:r>
            <a:br/>
            <a:r>
              <a:t>- Includes Copy to Clipboard and Clear actions.</a:t>
            </a:r>
          </a:p>
          <a:p>
            <a:pPr>
              <a:defRPr sz="1800" b="1">
                <a:solidFill>
                  <a:srgbClr val="7F00FF"/>
                </a:solidFill>
              </a:defRPr>
            </a:pPr>
            <a:r>
              <a:t>Interactive Glassmorphism Calculator Modal (#calculator-modal)</a:t>
            </a:r>
          </a:p>
          <a:p>
            <a:pPr>
              <a:spcAft>
                <a:spcPts val="1400"/>
              </a:spcAft>
              <a:defRPr sz="1400">
                <a:solidFill>
                  <a:srgbClr val="F0F6FC"/>
                </a:solidFill>
              </a:defRPr>
            </a:pPr>
            <a:r>
              <a:t>- Responsive grid keypad with 0-9, operators (+, -, *, /), =, C, Backspace.</a:t>
            </a:r>
            <a:br/>
            <a:r>
              <a:t>- Real-time equation solver displaying inputs and results on screen.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F2FE"/>
                </a:solidFill>
                <a:latin typeface="Arial"/>
              </a:defRPr>
            </a:pPr>
            <a:r>
              <a:t>Testing &amp; Verification Results (10/10 Passed)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 b="1">
                <a:solidFill>
                  <a:srgbClr val="00F2FE"/>
                </a:solidFill>
              </a:defRPr>
            </a:pPr>
            <a:r>
              <a:t>Automated Unit Test Suite Execution (test_assistant.py):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1: Time Command ('what is the current time?')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2: Greeting Identity ('hello who are you')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3: System Status ('show system status')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4: Math Solver ('calculate 12 times 8')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5: Joke Module ('tell me a joke')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6: App Launcher ('open notepad')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7: Web Launcher ('open youtube')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8: Wikipedia Search ('search wikipedia for python')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9: Goodbye Exit ('goodbye') -&gt; PASSED</a:t>
            </a:r>
          </a:p>
          <a:p>
            <a:pPr>
              <a:spcAft>
                <a:spcPts val="400"/>
              </a:spcAft>
              <a:defRPr sz="1400">
                <a:solidFill>
                  <a:srgbClr val="F0F6FC"/>
                </a:solidFill>
              </a:defRPr>
            </a:pPr>
            <a:r>
              <a:t>[PASS] Test 10: Google Search Report ('describe me about artificial intelligence') -&gt; PASSED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F2FE"/>
                </a:solidFill>
                <a:latin typeface="Arial"/>
              </a:defRPr>
            </a:pPr>
            <a:r>
              <a:t>Future Scope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7F00FF"/>
                </a:solidFill>
              </a:defRPr>
            </a:pPr>
            <a:r>
              <a:t>Future Scope Enhancements</a:t>
            </a:r>
          </a:p>
          <a:p>
            <a:pPr>
              <a:spcAft>
                <a:spcPts val="1600"/>
              </a:spcAft>
              <a:defRPr sz="1500">
                <a:solidFill>
                  <a:srgbClr val="F0F6FC"/>
                </a:solidFill>
              </a:defRPr>
            </a:pPr>
            <a:r>
              <a:t>1. Integration with Large Language Models (LLMs) for conversational context.</a:t>
            </a:r>
            <a:br/>
            <a:r>
              <a:t>2. Smart Home IoT Automation (controlling smart lights &amp; devices).</a:t>
            </a:r>
            <a:br/>
            <a:r>
              <a:t>3. Multi-language voice translation &amp; voice cloning.</a:t>
            </a:r>
          </a:p>
          <a:p>
            <a:pPr>
              <a:defRPr sz="2000" b="1">
                <a:solidFill>
                  <a:srgbClr val="7F00FF"/>
                </a:solidFill>
              </a:defRPr>
            </a:pPr>
            <a:r>
              <a:t>Conclusion</a:t>
            </a:r>
          </a:p>
          <a:p>
            <a:pPr>
              <a:spcAft>
                <a:spcPts val="1600"/>
              </a:spcAft>
              <a:defRPr sz="1500">
                <a:solidFill>
                  <a:srgbClr val="F0F6FC"/>
                </a:solidFill>
              </a:defRPr>
            </a:pPr>
            <a:r>
              <a:t>The AI Voice Assistant (ARIA) project successfully meets all problem statement goals. It demonstrates robust speech recognition, offline text-to-speech synthesis, desktop application launcher capabilities, and a state-of-the-art web interface.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F2FE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defRPr sz="2400">
                <a:solidFill>
                  <a:srgbClr val="F0F6FC"/>
                </a:solidFill>
                <a:latin typeface="Arial"/>
              </a:defRPr>
            </a:pPr>
            <a:r>
              <a:t>Questions &amp; Answers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